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8" r:id="rId9"/>
    <p:sldId id="262" r:id="rId10"/>
    <p:sldId id="269" r:id="rId11"/>
    <p:sldId id="263" r:id="rId12"/>
    <p:sldId id="264" r:id="rId13"/>
    <p:sldId id="265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C3B2"/>
    <a:srgbClr val="387A7A"/>
    <a:srgbClr val="8899AA"/>
    <a:srgbClr val="FFBA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9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F0F4F8"/>
                </a:solidFill>
                <a:latin typeface="Arial"/>
              </a:defRPr>
            </a:pPr>
            <a:r>
              <a:rPr lang="fr-FR" sz="1000" b="0" i="0" u="none" strike="noStrike">
                <a:solidFill>
                  <a:srgbClr val="F0F4F8"/>
                </a:solidFill>
                <a:latin typeface="Arial"/>
              </a:rPr>
              <a:t>Nombre de mesures par individu — Ferritine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Ferritine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</c:v>
                </c:pt>
                <c:pt idx="1">
                  <c:v>3</c:v>
                </c:pt>
                <c:pt idx="2">
                  <c:v>4</c:v>
                </c:pt>
                <c:pt idx="3">
                  <c:v>10</c:v>
                </c:pt>
                <c:pt idx="4">
                  <c:v>8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3</c:v>
                </c:pt>
                <c:pt idx="9">
                  <c:v>2</c:v>
                </c:pt>
                <c:pt idx="10">
                  <c:v>8</c:v>
                </c:pt>
                <c:pt idx="11">
                  <c:v>11</c:v>
                </c:pt>
                <c:pt idx="12">
                  <c:v>1</c:v>
                </c:pt>
                <c:pt idx="13">
                  <c:v>10</c:v>
                </c:pt>
                <c:pt idx="14">
                  <c:v>11</c:v>
                </c:pt>
                <c:pt idx="15">
                  <c:v>0</c:v>
                </c:pt>
                <c:pt idx="16">
                  <c:v>13</c:v>
                </c:pt>
                <c:pt idx="17">
                  <c:v>2</c:v>
                </c:pt>
                <c:pt idx="18">
                  <c:v>1</c:v>
                </c:pt>
                <c:pt idx="19">
                  <c:v>5</c:v>
                </c:pt>
                <c:pt idx="20">
                  <c:v>16</c:v>
                </c:pt>
                <c:pt idx="21">
                  <c:v>5</c:v>
                </c:pt>
                <c:pt idx="22">
                  <c:v>2</c:v>
                </c:pt>
                <c:pt idx="23">
                  <c:v>8</c:v>
                </c:pt>
                <c:pt idx="24">
                  <c:v>7</c:v>
                </c:pt>
                <c:pt idx="25">
                  <c:v>4</c:v>
                </c:pt>
                <c:pt idx="26">
                  <c:v>11</c:v>
                </c:pt>
                <c:pt idx="27">
                  <c:v>9</c:v>
                </c:pt>
                <c:pt idx="28">
                  <c:v>10</c:v>
                </c:pt>
                <c:pt idx="2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AB-5F42-BDC3-688F4E5ED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33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2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F0F4F8"/>
                </a:solidFill>
                <a:latin typeface="Arial"/>
              </a:defRPr>
            </a:pPr>
            <a:r>
              <a:rPr lang="fr-FR" sz="1000" b="0" i="0" u="none" strike="noStrike">
                <a:solidFill>
                  <a:srgbClr val="F0F4F8"/>
                </a:solidFill>
                <a:latin typeface="Arial"/>
              </a:rPr>
              <a:t>Nombre de mesures par individu — Fer sérique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Fer sérique</c:v>
                </c:pt>
              </c:strCache>
            </c:strRef>
          </c:tx>
          <c:spPr>
            <a:solidFill>
              <a:srgbClr val="17C3B2"/>
            </a:solidFill>
            <a:effectLst/>
          </c:spPr>
          <c:invertIfNegative val="0"/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</c:v>
                </c:pt>
                <c:pt idx="1">
                  <c:v>3</c:v>
                </c:pt>
                <c:pt idx="2">
                  <c:v>4</c:v>
                </c:pt>
                <c:pt idx="3">
                  <c:v>10</c:v>
                </c:pt>
                <c:pt idx="4">
                  <c:v>8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8</c:v>
                </c:pt>
                <c:pt idx="11">
                  <c:v>10</c:v>
                </c:pt>
                <c:pt idx="12">
                  <c:v>1</c:v>
                </c:pt>
                <c:pt idx="13">
                  <c:v>10</c:v>
                </c:pt>
                <c:pt idx="14">
                  <c:v>10</c:v>
                </c:pt>
                <c:pt idx="15">
                  <c:v>0</c:v>
                </c:pt>
                <c:pt idx="16">
                  <c:v>13</c:v>
                </c:pt>
                <c:pt idx="17">
                  <c:v>2</c:v>
                </c:pt>
                <c:pt idx="18">
                  <c:v>1</c:v>
                </c:pt>
                <c:pt idx="19">
                  <c:v>7</c:v>
                </c:pt>
                <c:pt idx="20">
                  <c:v>16</c:v>
                </c:pt>
                <c:pt idx="21">
                  <c:v>5</c:v>
                </c:pt>
                <c:pt idx="22">
                  <c:v>2</c:v>
                </c:pt>
                <c:pt idx="23">
                  <c:v>8</c:v>
                </c:pt>
                <c:pt idx="24">
                  <c:v>7</c:v>
                </c:pt>
                <c:pt idx="25">
                  <c:v>4</c:v>
                </c:pt>
                <c:pt idx="26">
                  <c:v>11</c:v>
                </c:pt>
                <c:pt idx="27">
                  <c:v>9</c:v>
                </c:pt>
                <c:pt idx="28">
                  <c:v>10</c:v>
                </c:pt>
                <c:pt idx="2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1B-1740-A8E7-D6C32E5EDE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33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23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F0F4F8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F0F4F8"/>
                </a:solidFill>
                <a:latin typeface="Arial"/>
              </a:rPr>
              <a:t>Nombre d'anomalies par méthode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α=0.95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0F4F8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M1 Fer</c:v>
                </c:pt>
                <c:pt idx="1">
                  <c:v>M1 Ferritine</c:v>
                </c:pt>
                <c:pt idx="2">
                  <c:v>M2 Fer</c:v>
                </c:pt>
                <c:pt idx="3">
                  <c:v>M2 Ferritine</c:v>
                </c:pt>
                <c:pt idx="4">
                  <c:v>M3 Multivarié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E1-364E-B231-16A17C8C76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α=0.80</c:v>
                </c:pt>
              </c:strCache>
            </c:strRef>
          </c:tx>
          <c:spPr>
            <a:solidFill>
              <a:srgbClr val="FFBA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0F4F8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M1 Fer</c:v>
                </c:pt>
                <c:pt idx="1">
                  <c:v>M1 Ferritine</c:v>
                </c:pt>
                <c:pt idx="2">
                  <c:v>M2 Fer</c:v>
                </c:pt>
                <c:pt idx="3">
                  <c:v>M2 Ferritine</c:v>
                </c:pt>
                <c:pt idx="4">
                  <c:v>M3 Multivarié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E1-364E-B231-16A17C8C76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33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AABBC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522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312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137160" cy="5143500"/>
          </a:xfrm>
          <a:prstGeom prst="rect">
            <a:avLst/>
          </a:prstGeom>
          <a:solidFill>
            <a:srgbClr val="17C3B2">
              <a:alpha val="40000"/>
            </a:srgbClr>
          </a:solidFill>
          <a:ln w="12700">
            <a:solidFill>
              <a:srgbClr val="17C3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583679" y="-717804"/>
            <a:ext cx="3200400" cy="3200400"/>
          </a:xfrm>
          <a:prstGeom prst="ellipse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223760" y="2560320"/>
            <a:ext cx="2011680" cy="2011680"/>
          </a:xfrm>
          <a:prstGeom prst="ellipse">
            <a:avLst/>
          </a:prstGeom>
          <a:solidFill>
            <a:srgbClr val="17C3B2">
              <a:alpha val="15000"/>
            </a:srgbClr>
          </a:solidFill>
          <a:ln w="12700">
            <a:solidFill>
              <a:srgbClr val="17C3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profils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biologiques atypiques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23113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méthode Z-score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2560320" cy="36576"/>
          </a:xfrm>
          <a:prstGeom prst="rect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biomarqueurs sanguins  ·  Ferritine &amp; Fer sérique  ·  30 individus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Mathis BENTO AFONSO</a:t>
            </a:r>
          </a:p>
          <a:p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Margot MARCIANO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RENAULT-CLÉQUIN</a:t>
            </a:r>
          </a:p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		 30/03/2026</a:t>
            </a:r>
            <a:endParaRPr lang="en-US" sz="10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4AD9AC7-DD4B-716C-7FA2-168186EA1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055" y="445951"/>
            <a:ext cx="925649" cy="925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02920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10" name="Text 8"/>
          <p:cNvSpPr/>
          <p:nvPr/>
        </p:nvSpPr>
        <p:spPr>
          <a:xfrm>
            <a:off x="96012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Biomarqueurs, population, structure des données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54880" y="1353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univariée (M1)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 Tn — détection des valeurs extrêmes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solidFill>
            <a:srgbClr val="17C3B2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2587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404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saisonnière (M2)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temporelle : deux saisons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solidFill>
            <a:srgbClr val="17C3B2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0" y="2587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2404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multivariée (M3)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conjointe des deux biomarqueurs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566160"/>
            <a:ext cx="502920" cy="1005840"/>
          </a:xfrm>
          <a:prstGeom prst="rect">
            <a:avLst/>
          </a:prstGeom>
          <a:solidFill>
            <a:srgbClr val="FFBA49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5760" y="3822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3639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0.95 vs 0.80 — individus détectés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solidFill>
            <a:srgbClr val="FFBA49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54880" y="3822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3639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931920" cy="1325880"/>
          </a:xfrm>
          <a:prstGeom prst="rect">
            <a:avLst/>
          </a:prstGeom>
          <a:solidFill>
            <a:srgbClr val="152232"/>
          </a:solidFill>
          <a:ln w="12700">
            <a:solidFill>
              <a:srgbClr val="387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64008" cy="13258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38912" y="1097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371600"/>
            <a:ext cx="3703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individus présentant des profils biologiques anormaux à partir de séries temporelles de mesures sanguines.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3931920" cy="1097280"/>
          </a:xfrm>
          <a:prstGeom prst="rect">
            <a:avLst/>
          </a:prstGeom>
          <a:solidFill>
            <a:srgbClr val="152232"/>
          </a:solidFill>
          <a:ln w="12700">
            <a:solidFill>
              <a:srgbClr val="18C3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64008" cy="109728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" y="2514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78892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individus  ·  Données manquantes fréquentes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individus ont &lt; 3 mesures → exclus de l'analyse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3931920" cy="1234440"/>
          </a:xfrm>
          <a:prstGeom prst="rect">
            <a:avLst/>
          </a:prstGeom>
          <a:solidFill>
            <a:srgbClr val="152232"/>
          </a:solidFill>
          <a:ln w="12700">
            <a:solidFill>
              <a:srgbClr val="387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6400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38912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977640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: ferritine.xls &amp; fer_serique.xls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initial wide → transformé en format long (ID, marqueur, valeur)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8724" y="1005840"/>
            <a:ext cx="4389120" cy="3840480"/>
          </a:xfrm>
          <a:prstGeom prst="rect">
            <a:avLst/>
          </a:prstGeom>
          <a:solidFill>
            <a:srgbClr val="152232"/>
          </a:solidFill>
          <a:ln w="12700">
            <a:solidFill>
              <a:srgbClr val="2233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Biomarqueurs analysés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50876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634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5780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Ferritine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Protéine de stockage du fer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normales : 12–300 µg/L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788920"/>
            <a:ext cx="502920" cy="502920"/>
          </a:xfrm>
          <a:prstGeom prst="ellipse">
            <a:avLst/>
          </a:prstGeom>
          <a:solidFill>
            <a:srgbClr val="17C3B2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6634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57800" y="2816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sérique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3090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circulant dans le sang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normales : 10–30 µmol/L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547872"/>
            <a:ext cx="1143000" cy="1024128"/>
          </a:xfrm>
          <a:prstGeom prst="rect">
            <a:avLst/>
          </a:prstGeom>
          <a:solidFill>
            <a:srgbClr val="152232"/>
          </a:solidFill>
          <a:ln w="12700">
            <a:solidFill>
              <a:srgbClr val="2233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27506" y="3639312"/>
            <a:ext cx="814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850366" y="4067866"/>
            <a:ext cx="8148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3547872"/>
            <a:ext cx="1143000" cy="1024128"/>
          </a:xfrm>
          <a:prstGeom prst="rect">
            <a:avLst/>
          </a:prstGeom>
          <a:solidFill>
            <a:srgbClr val="152232"/>
          </a:solidFill>
          <a:ln w="12700">
            <a:solidFill>
              <a:srgbClr val="2233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172929" y="3618556"/>
            <a:ext cx="8864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167749" y="4055971"/>
            <a:ext cx="1014741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/ ind. (moy.)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3547872"/>
            <a:ext cx="1143000" cy="1024128"/>
          </a:xfrm>
          <a:prstGeom prst="rect">
            <a:avLst/>
          </a:prstGeom>
          <a:solidFill>
            <a:srgbClr val="152232"/>
          </a:solidFill>
          <a:ln w="12700">
            <a:solidFill>
              <a:srgbClr val="2233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639812" y="3584448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533361" y="4023320"/>
            <a:ext cx="10632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requises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Analyse descriptive des biomarqueurs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931920" cy="1005840"/>
          </a:xfrm>
          <a:prstGeom prst="rect">
            <a:avLst/>
          </a:prstGeom>
          <a:solidFill>
            <a:srgbClr val="152232"/>
          </a:solidFill>
          <a:ln w="12700">
            <a:solidFill>
              <a:srgbClr val="387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64008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38912" y="1097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Ferritine — statistiques clés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37160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: 12.41 µg/L  ·   Max : 388.02  µg/L</a:t>
            </a:r>
            <a:endParaRPr lang="en-US" sz="1050" dirty="0"/>
          </a:p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: ~74    ·   Moyenne : ~104   ·   Écart-type : ~82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6156" y="2103120"/>
            <a:ext cx="3931920" cy="1005840"/>
          </a:xfrm>
          <a:prstGeom prst="rect">
            <a:avLst/>
          </a:prstGeom>
          <a:solidFill>
            <a:srgbClr val="152232"/>
          </a:solidFill>
          <a:ln w="12700">
            <a:solidFill>
              <a:srgbClr val="18C3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64008" cy="100584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" y="2194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sérique — statistiques clés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46888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: 6.14 µmol/L  ·   Max : 36.40  µmol/L</a:t>
            </a:r>
            <a:endParaRPr lang="en-US" sz="1050" dirty="0"/>
          </a:p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: ~17   ·   Moyenne : ~17   ·   Écart-type : ~6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3931920" cy="1645920"/>
          </a:xfrm>
          <a:prstGeom prst="rect">
            <a:avLst/>
          </a:prstGeom>
          <a:solidFill>
            <a:srgbClr val="152232"/>
          </a:solidFill>
          <a:ln w="12700">
            <a:solidFill>
              <a:srgbClr val="FFBA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64008" cy="1645920"/>
          </a:xfrm>
          <a:prstGeom prst="rect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38912" y="3291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importantes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566160"/>
            <a:ext cx="3703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 asymétrique pour la ferritine (valeurs extrêmes hautes)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fer sérique est plus symétrique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Nombreuses valeurs manquantes : certains individus ont seulement 1–2 mesures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de 3 observations requis pour calculer la statistique Tn</a:t>
            </a:r>
            <a:endParaRPr lang="en-US" sz="1050" dirty="0"/>
          </a:p>
        </p:txBody>
      </p:sp>
      <p:graphicFrame>
        <p:nvGraphicFramePr>
          <p:cNvPr id="24" name="Chart 0">
            <a:extLst>
              <a:ext uri="{FF2B5EF4-FFF2-40B4-BE49-F238E27FC236}">
                <a16:creationId xmlns:a16="http://schemas.microsoft.com/office/drawing/2014/main" id="{99DBE793-BFA4-C93F-E81A-F8C976361D1E}"/>
              </a:ext>
            </a:extLst>
          </p:cNvPr>
          <p:cNvGraphicFramePr/>
          <p:nvPr/>
        </p:nvGraphicFramePr>
        <p:xfrm>
          <a:off x="4480560" y="1005840"/>
          <a:ext cx="43891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1">
            <a:extLst>
              <a:ext uri="{FF2B5EF4-FFF2-40B4-BE49-F238E27FC236}">
                <a16:creationId xmlns:a16="http://schemas.microsoft.com/office/drawing/2014/main" id="{4C543F18-0474-062F-0612-11F95FD87CD8}"/>
              </a:ext>
            </a:extLst>
          </p:cNvPr>
          <p:cNvGraphicFramePr/>
          <p:nvPr/>
        </p:nvGraphicFramePr>
        <p:xfrm>
          <a:off x="4480560" y="3017520"/>
          <a:ext cx="43891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Le piège : données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insuffisantes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152232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64008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mentionné dans le sujet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08176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nombre d'individus (&lt;10) présentent des données si peu nombreuses (1 ou 2 mesures) qu'aucune statistique Tn ne peut être calculée. Ces individus sont systématiquement exclus de toutes les analyses, ce qui peut masquer de vraies anomalies.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exclus (&lt; 3 mesures exploitables) 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2276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532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obs.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65960" y="22402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965960" y="2276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2532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obs.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0" y="22402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0" y="2276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532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obs.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49240" y="22402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49240" y="2276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532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obs.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40880" y="22402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040880" y="2276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10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532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obs.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13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obs.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965960" y="29260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965960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16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obs.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0" y="29260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0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18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obs.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49240" y="29260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349240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19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obs.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40880" y="2926080"/>
            <a:ext cx="155448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445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040880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23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obs.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639312"/>
            <a:ext cx="8595360" cy="1234440"/>
          </a:xfrm>
          <a:prstGeom prst="rect">
            <a:avLst/>
          </a:prstGeom>
          <a:solidFill>
            <a:srgbClr val="152232"/>
          </a:solidFill>
          <a:ln w="12700">
            <a:solidFill>
              <a:srgbClr val="FFBA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274320" y="3639312"/>
            <a:ext cx="64008" cy="1234440"/>
          </a:xfrm>
          <a:prstGeom prst="rect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38912" y="3749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8911" y="4041648"/>
            <a:ext cx="80739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manque de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recul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d’éventuelles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anomalies. Il serait nécessaire d'augmenter la fréquence de prélèvement pour les inclure dans les analyses futures.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0144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Méthode univariée : statistique Tn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005840"/>
          </a:xfrm>
          <a:prstGeom prst="rect">
            <a:avLst/>
          </a:prstGeom>
          <a:solidFill>
            <a:srgbClr val="152232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</a:t>
            </a: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</a:t>
            </a: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114800" cy="12344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25328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mesure Xᵢ, on calcule la moyenne et l'écart-type de toutes les autres valeurs de l'individu (n−1 valeurs)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114800" cy="12344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normalisé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0" y="25328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normalise l'écart entre Xᵢ et la moyenne des autres, pondéré par l'écart-type leave-one-out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4114800" cy="12344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retient la valeur max parmi tous les scores → c'est Tn pour cet individu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4114800" cy="12344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548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au seuil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0" y="395020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est comparé à un seuil tabulé dépendant de n et du taux de faux positifs (0.95 ou 0.80)</a:t>
            </a:r>
            <a:endParaRPr lang="en-US" sz="10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041B2E93-95C3-117A-093F-0229BA23176F}"/>
              </a:ext>
            </a:extLst>
          </p:cNvPr>
          <p:cNvSpPr/>
          <p:nvPr/>
        </p:nvSpPr>
        <p:spPr>
          <a:xfrm>
            <a:off x="1724591" y="1176218"/>
            <a:ext cx="2070169" cy="652582"/>
          </a:xfrm>
          <a:prstGeom prst="rect">
            <a:avLst/>
          </a:prstGeom>
          <a:solidFill>
            <a:srgbClr val="152232"/>
          </a:solidFill>
          <a:ln w="254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B23BAC20-CDD6-BBE2-3D09-C89BA8CC0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591" y="1180264"/>
            <a:ext cx="2070169" cy="640080"/>
          </a:xfrm>
          <a:prstGeom prst="rect">
            <a:avLst/>
          </a:prstGeom>
        </p:spPr>
      </p:pic>
      <p:sp>
        <p:nvSpPr>
          <p:cNvPr id="34" name="Shape 4">
            <a:extLst>
              <a:ext uri="{FF2B5EF4-FFF2-40B4-BE49-F238E27FC236}">
                <a16:creationId xmlns:a16="http://schemas.microsoft.com/office/drawing/2014/main" id="{D57277EC-9931-1B3F-2A8B-EE6529480EFF}"/>
              </a:ext>
            </a:extLst>
          </p:cNvPr>
          <p:cNvSpPr/>
          <p:nvPr/>
        </p:nvSpPr>
        <p:spPr>
          <a:xfrm>
            <a:off x="5134048" y="1168267"/>
            <a:ext cx="2847474" cy="652582"/>
          </a:xfrm>
          <a:prstGeom prst="rect">
            <a:avLst/>
          </a:prstGeom>
          <a:solidFill>
            <a:srgbClr val="152232"/>
          </a:solidFill>
          <a:ln w="254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E778387E-062F-78A3-7746-DE7F83896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048" y="1176218"/>
            <a:ext cx="2847474" cy="6400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Résultats méthode univariée (seuil 0.95)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834640" cy="2286000"/>
          </a:xfrm>
          <a:prstGeom prst="rect">
            <a:avLst/>
          </a:prstGeom>
          <a:solidFill>
            <a:srgbClr val="152232"/>
          </a:solidFill>
          <a:ln w="254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83464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sérique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individu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Tn ne dépasse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pour α=0.95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1005840"/>
            <a:ext cx="2834640" cy="2286000"/>
          </a:xfrm>
          <a:prstGeom prst="rect">
            <a:avLst/>
          </a:prstGeom>
          <a:solidFill>
            <a:srgbClr val="152232"/>
          </a:solidFill>
          <a:ln w="25400">
            <a:solidFill>
              <a:srgbClr val="FFBA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474720" y="1005840"/>
            <a:ext cx="2834640" cy="502920"/>
          </a:xfrm>
          <a:prstGeom prst="rect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74720" y="1005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Ferritine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554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individu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 11 : Tn &gt; seuil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= 8 mesures)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005840"/>
            <a:ext cx="2377440" cy="2286000"/>
          </a:xfrm>
          <a:prstGeom prst="rect">
            <a:avLst/>
          </a:prstGeom>
          <a:solidFill>
            <a:srgbClr val="152232"/>
          </a:solidFill>
          <a:ln w="12700">
            <a:solidFill>
              <a:srgbClr val="8899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492240" y="1005840"/>
            <a:ext cx="64008" cy="228600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656832" y="1097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exclus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56832" y="1371600"/>
            <a:ext cx="21488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individus exclus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3 mesures)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: 6, 7, 8, 9, 10,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13, 16, 18, 19, 23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3456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individu 11 — Ferritine :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65299"/>
              </p:ext>
            </p:extLst>
          </p:nvPr>
        </p:nvGraphicFramePr>
        <p:xfrm>
          <a:off x="274320" y="3794760"/>
          <a:ext cx="8595360" cy="1005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Individu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Biomarqueur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Tn calculé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 obs.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Seuil (α=0.95)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Décision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Ferritine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4.16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4.12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⚠ ANORMAL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2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03  —  Contraintes d’échantillon (M2)</a:t>
            </a:r>
          </a:p>
        </p:txBody>
      </p:sp>
      <p:sp>
        <p:nvSpPr>
          <p:cNvPr id="5" name="PageNum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8 / 14</a:t>
            </a:r>
          </a:p>
        </p:txBody>
      </p:sp>
      <p:sp>
        <p:nvSpPr>
          <p:cNvPr id="20" name="CardRightBG"/>
          <p:cNvSpPr/>
          <p:nvPr/>
        </p:nvSpPr>
        <p:spPr>
          <a:xfrm>
            <a:off x="456480" y="1005840"/>
            <a:ext cx="8413200" cy="3657600"/>
          </a:xfrm>
          <a:prstGeom prst="rect">
            <a:avLst/>
          </a:prstGeom>
          <a:solidFill>
            <a:srgbClr val="1C1022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ircleR"/>
          <p:cNvSpPr/>
          <p:nvPr/>
        </p:nvSpPr>
        <p:spPr>
          <a:xfrm>
            <a:off x="852020" y="1097280"/>
            <a:ext cx="457200" cy="457200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NumR"/>
          <p:cNvSpPr/>
          <p:nvPr/>
        </p:nvSpPr>
        <p:spPr>
          <a:xfrm>
            <a:off x="8520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!</a:t>
            </a:r>
          </a:p>
        </p:txBody>
      </p:sp>
      <p:sp>
        <p:nvSpPr>
          <p:cNvPr id="23" name="HeaderR"/>
          <p:cNvSpPr/>
          <p:nvPr/>
        </p:nvSpPr>
        <p:spPr>
          <a:xfrm>
            <a:off x="1400660" y="1164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D94F4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Contrainte : n total &gt; 3</a:t>
            </a:r>
          </a:p>
        </p:txBody>
      </p:sp>
      <p:sp>
        <p:nvSpPr>
          <p:cNvPr id="24" name="BodyR"/>
          <p:cNvSpPr/>
          <p:nvPr/>
        </p:nvSpPr>
        <p:spPr>
          <a:xfrm>
            <a:off x="852020" y="1740596"/>
            <a:ext cx="3840120" cy="28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Division par zéro si n ≤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50" b="0" i="0" u="none" strike="noStrike" kern="1200" cap="none" spc="0" normalizeH="0" baseline="0" noProof="0" dirty="0">
                <a:ln>
                  <a:noFill/>
                </a:ln>
                <a:solidFill>
                  <a:srgbClr val="A0B8C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Dénominateur : (n − 3)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FFCC44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n = 3  ⇒  0 /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50" b="1" i="0" u="none" strike="noStrike" kern="1200" cap="none" spc="0" normalizeH="0" baseline="0" noProof="0" dirty="0">
                <a:ln>
                  <a:noFill/>
                </a:ln>
                <a:solidFill>
                  <a:srgbClr val="D94F4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Individu exclu si n total ≤ 3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45492092-3A5F-1E20-5CA7-B01CA1976E46}"/>
              </a:ext>
            </a:extLst>
          </p:cNvPr>
          <p:cNvSpPr/>
          <p:nvPr/>
        </p:nvSpPr>
        <p:spPr>
          <a:xfrm>
            <a:off x="3748302" y="1670228"/>
            <a:ext cx="4543678" cy="2085432"/>
          </a:xfrm>
          <a:prstGeom prst="rect">
            <a:avLst/>
          </a:prstGeom>
          <a:solidFill>
            <a:srgbClr val="152232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C57567A-A03C-0158-BDA2-920E09EF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302" y="1670228"/>
            <a:ext cx="4543678" cy="2085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574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Méthode saisonnière : extension temporelle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152232"/>
          </a:solidFill>
          <a:ln w="12700">
            <a:solidFill>
              <a:srgbClr val="17C3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: les valeurs biologiques peuvent varier selon la saison → on sépare les prélèvements en 2 groupes (pair / impair)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des saisons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57200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64008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1 (X)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5603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ferser1, ferser3, ferser5, …  ·  Indices impairs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57200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1522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64008" cy="548640"/>
          </a:xfrm>
          <a:prstGeom prst="rect">
            <a:avLst/>
          </a:prstGeom>
          <a:solidFill>
            <a:srgbClr val="17C3B2"/>
          </a:solidFill>
          <a:ln w="12700">
            <a:solidFill>
              <a:srgbClr val="18C3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8912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2 (Y)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2461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ferser2, ferser4, ferser6, …  ·  Indices pairs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Nouveautés par rapport à M1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2286000"/>
            <a:ext cx="228600" cy="228600"/>
          </a:xfrm>
          <a:prstGeom prst="ellipse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40680" y="2124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variance est calculée sur l'ensemble des données (deux saisons) mais en excluant l'observation testée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2971800"/>
            <a:ext cx="228600" cy="228600"/>
          </a:xfrm>
          <a:prstGeom prst="ellipse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40680" y="2809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Tn retenu est le MAX des deux scores saisonniers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3657600"/>
            <a:ext cx="228600" cy="228600"/>
          </a:xfrm>
          <a:prstGeom prst="ellipse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40680" y="3495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seuils tabulés tiennent compte de n₁ et n₂ séparément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(seuil α = 0.95)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96512"/>
            <a:ext cx="1536192" cy="585216"/>
          </a:xfrm>
          <a:prstGeom prst="rect">
            <a:avLst/>
          </a:prstGeom>
          <a:solidFill>
            <a:srgbClr val="152232"/>
          </a:solidFill>
          <a:ln w="12700">
            <a:solidFill>
              <a:srgbClr val="FFBA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1148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r>
              <a:rPr lang="en-US" sz="1150" b="1" dirty="0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04  —  La règle des 4 paires (M3)</a:t>
            </a:r>
          </a:p>
        </p:txBody>
      </p:sp>
      <p:sp>
        <p:nvSpPr>
          <p:cNvPr id="5" name="PageNum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dirty="0">
                <a:solidFill>
                  <a:srgbClr val="8899AA"/>
                </a:solidFill>
                <a:latin typeface="Calibri" pitchFamily="34" charset="0"/>
              </a:rPr>
              <a:t>10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/ 14</a:t>
            </a:r>
          </a:p>
        </p:txBody>
      </p:sp>
      <p:sp>
        <p:nvSpPr>
          <p:cNvPr id="30" name="BigNumBG"/>
          <p:cNvSpPr/>
          <p:nvPr/>
        </p:nvSpPr>
        <p:spPr>
          <a:xfrm>
            <a:off x="274320" y="1005840"/>
            <a:ext cx="2743200" cy="3657600"/>
          </a:xfrm>
          <a:prstGeom prst="rect">
            <a:avLst/>
          </a:prstGeom>
          <a:solidFill>
            <a:srgbClr val="0A2A2A"/>
          </a:solidFill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BigNumLabel"/>
          <p:cNvSpPr/>
          <p:nvPr/>
        </p:nvSpPr>
        <p:spPr>
          <a:xfrm>
            <a:off x="274320" y="12801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7200" b="1" i="0" u="none" strike="noStrike" kern="1200" cap="none" spc="0" normalizeH="0" baseline="0" noProof="0" dirty="0">
                <a:ln>
                  <a:noFill/>
                </a:ln>
                <a:solidFill>
                  <a:srgbClr val="17C3B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32" name="BigNumSub"/>
          <p:cNvSpPr/>
          <p:nvPr/>
        </p:nvSpPr>
        <p:spPr>
          <a:xfrm>
            <a:off x="27432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F0F4F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paires min.</a:t>
            </a:r>
          </a:p>
        </p:txBody>
      </p:sp>
      <p:sp>
        <p:nvSpPr>
          <p:cNvPr id="33" name="BigNumSub2"/>
          <p:cNvSpPr/>
          <p:nvPr/>
        </p:nvSpPr>
        <p:spPr>
          <a:xfrm>
            <a:off x="27432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Fer + Ferritine simultanés</a:t>
            </a:r>
          </a:p>
        </p:txBody>
      </p:sp>
      <p:sp>
        <p:nvSpPr>
          <p:cNvPr id="40" name="RightBG"/>
          <p:cNvSpPr/>
          <p:nvPr/>
        </p:nvSpPr>
        <p:spPr>
          <a:xfrm>
            <a:off x="3292560" y="1005840"/>
            <a:ext cx="5577120" cy="3657600"/>
          </a:xfrm>
          <a:prstGeom prst="rect">
            <a:avLst/>
          </a:prstGeom>
          <a:solidFill>
            <a:srgbClr val="152232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ec1Header"/>
          <p:cNvSpPr/>
          <p:nvPr/>
        </p:nvSpPr>
        <p:spPr>
          <a:xfrm>
            <a:off x="3475800" y="1097280"/>
            <a:ext cx="52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7C3B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Condition d’application</a:t>
            </a:r>
          </a:p>
        </p:txBody>
      </p:sp>
      <p:sp>
        <p:nvSpPr>
          <p:cNvPr id="42" name="Sec1Body"/>
          <p:cNvSpPr/>
          <p:nvPr/>
        </p:nvSpPr>
        <p:spPr>
          <a:xfrm>
            <a:off x="3475800" y="1462080"/>
            <a:ext cx="521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50" b="0" i="0" u="none" strike="noStrike" kern="1200" cap="none" spc="0" normalizeH="0" baseline="0" noProof="0" dirty="0">
                <a:ln>
                  <a:noFill/>
                </a:ln>
                <a:solidFill>
                  <a:srgbClr val="A0B8C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n ≥ 4 paires complètes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50" b="0" i="0" u="none" strike="noStrike" kern="1200" cap="none" spc="0" normalizeH="0" baseline="0" noProof="0" dirty="0">
                <a:ln>
                  <a:noFill/>
                </a:ln>
                <a:solidFill>
                  <a:srgbClr val="A0B8C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(Fer sérique + Ferritine mesurés simultanément)</a:t>
            </a:r>
          </a:p>
        </p:txBody>
      </p:sp>
      <p:sp>
        <p:nvSpPr>
          <p:cNvPr id="43" name="Sec2Header"/>
          <p:cNvSpPr/>
          <p:nvPr/>
        </p:nvSpPr>
        <p:spPr>
          <a:xfrm>
            <a:off x="3475800" y="2285280"/>
            <a:ext cx="52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7C3B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Raison mathématique</a:t>
            </a:r>
          </a:p>
        </p:txBody>
      </p:sp>
      <p:sp>
        <p:nvSpPr>
          <p:cNvPr id="45" name="FormulaBox"/>
          <p:cNvSpPr/>
          <p:nvPr/>
        </p:nvSpPr>
        <p:spPr>
          <a:xfrm>
            <a:off x="3475800" y="3383280"/>
            <a:ext cx="52106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CC4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FFCC44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n = 3  ⇒  dénom. = 0  ⇒  division par 0</a:t>
            </a:r>
          </a:p>
        </p:txBody>
      </p:sp>
      <p:sp>
        <p:nvSpPr>
          <p:cNvPr id="46" name="Consequence"/>
          <p:cNvSpPr/>
          <p:nvPr/>
        </p:nvSpPr>
        <p:spPr>
          <a:xfrm>
            <a:off x="3475800" y="3932280"/>
            <a:ext cx="52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50" b="1" i="0" u="none" strike="noStrike" kern="1200" cap="none" spc="0" normalizeH="0" baseline="0" noProof="0" dirty="0">
                <a:ln>
                  <a:noFill/>
                </a:ln>
                <a:solidFill>
                  <a:srgbClr val="D94F4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Individu exclu si n paires &lt; 4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93D97CC-F2AC-A3D2-6617-B54D6273F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800" y="2684309"/>
            <a:ext cx="2071135" cy="5745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Méthode multivariée : Fer sérique + Ferritine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analyser simultanément les 2 biomarqueurs en tenant compte de leur corrélation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3931920" cy="1051560"/>
          </a:xfrm>
          <a:prstGeom prst="rect">
            <a:avLst/>
          </a:prstGeom>
          <a:solidFill>
            <a:srgbClr val="152232"/>
          </a:solidFill>
          <a:ln w="12700">
            <a:solidFill>
              <a:srgbClr val="387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64008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38912" y="16002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 Tn multivariée (d=2)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3703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biomarqueurs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3931920" cy="868680"/>
          </a:xfrm>
          <a:prstGeom prst="rect">
            <a:avLst/>
          </a:prstGeom>
          <a:solidFill>
            <a:srgbClr val="152232"/>
          </a:solidFill>
          <a:ln w="12700">
            <a:solidFill>
              <a:srgbClr val="18C3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64008" cy="86868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8912" y="27432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covariance Cₙ,₋ᵢ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3017520"/>
            <a:ext cx="3703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Estimée sur n−1 observations (leave-one-out)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la corrélation entre les deux marqueurs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3931920" cy="1188720"/>
          </a:xfrm>
          <a:prstGeom prst="rect">
            <a:avLst/>
          </a:prstGeom>
          <a:solidFill>
            <a:srgbClr val="152232"/>
          </a:solidFill>
          <a:ln w="12700">
            <a:solidFill>
              <a:srgbClr val="FFBA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64008" cy="1188720"/>
          </a:xfrm>
          <a:prstGeom prst="rect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38912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utilisables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paires de mesures complètes (fer sérique ET ferritine disponibles pour le même prélèvement) sont retenues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Réduit encore la taille d'échantillon disponible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(seuil α = 0.95)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670764"/>
              </p:ext>
            </p:extLst>
          </p:nvPr>
        </p:nvGraphicFramePr>
        <p:xfrm>
          <a:off x="4572000" y="1874520"/>
          <a:ext cx="4450618" cy="2011680"/>
        </p:xfrm>
        <a:graphic>
          <a:graphicData uri="http://schemas.openxmlformats.org/drawingml/2006/table">
            <a:tbl>
              <a:tblPr/>
              <a:tblGrid>
                <a:gridCol w="54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Tn multivarié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 paires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Seuil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Décision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18.78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16.47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⚠ ANORMAL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55.80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16.47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⚠ ANORMAL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15.87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16.47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FFBA49"/>
                          </a:solidFill>
                        </a:rPr>
                        <a:t>Limite (&lt; seuil)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17.99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21.54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FFBA49"/>
                          </a:solidFill>
                        </a:rPr>
                        <a:t>Limite (&lt; seuil)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0" y="39776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 individus clairement anormaux (24 &amp; 28)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 individus très limites (11 &amp; 25)</a:t>
            </a:r>
            <a:endParaRPr lang="en-US" sz="1100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9051E0C3-B76A-775B-2F72-4C019C957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59" y="1885768"/>
            <a:ext cx="3067050" cy="45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Impact du seuil : α=0.95 vs α=0.80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Baisser le seuil de α=0.95 à α=0.80 réduit la sensibilité → on accepte plus de faux positifs, et on détecte davantage d'anomalies.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610213"/>
              </p:ext>
            </p:extLst>
          </p:nvPr>
        </p:nvGraphicFramePr>
        <p:xfrm>
          <a:off x="274320" y="1463040"/>
          <a:ext cx="8595360" cy="261534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Méthode / Marqueur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α = 0.95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α = 0.80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Nouveaux détectés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M1 — Fer sérique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0 anormal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Ind. 5, 24 (2)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A49"/>
                          </a:solidFill>
                        </a:rPr>
                        <a:t>+2 individus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M1 — Ferritine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Ind. 11 (1)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Ind. 11, 27 (2)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A49"/>
                          </a:solidFill>
                        </a:rPr>
                        <a:t>+1 </a:t>
                      </a:r>
                      <a:r>
                        <a:rPr lang="en-US" sz="1000" b="1" dirty="0" err="1">
                          <a:solidFill>
                            <a:srgbClr val="FFBA49"/>
                          </a:solidFill>
                        </a:rPr>
                        <a:t>individu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M2 — Fer sérique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0 anormal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Ind. 2, 21, 29 (3)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A49"/>
                          </a:solidFill>
                        </a:rPr>
                        <a:t>+3 individus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M2 — Ferritine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0 anormal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0 anormal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Aucun changement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M3 — Multivarié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Ind. 24, 28 (2)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</a:rPr>
                        <a:t>Ind. 11, 21, 24, 25, 28 (5)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A49"/>
                          </a:solidFill>
                        </a:rPr>
                        <a:t>+3 individus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224448"/>
            <a:ext cx="4114800" cy="708660"/>
          </a:xfrm>
          <a:prstGeom prst="rect">
            <a:avLst/>
          </a:prstGeom>
          <a:solidFill>
            <a:srgbClr val="152232"/>
          </a:solidFill>
          <a:ln w="12700">
            <a:solidFill>
              <a:srgbClr val="FFBA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274320" y="4224448"/>
            <a:ext cx="64008" cy="708660"/>
          </a:xfrm>
          <a:prstGeom prst="rect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7"/>
          <p:cNvSpPr/>
          <p:nvPr/>
        </p:nvSpPr>
        <p:spPr>
          <a:xfrm>
            <a:off x="438912" y="42775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seuil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8912" y="4562048"/>
            <a:ext cx="388620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α=0.80 détecte plus d'anomalies mais augmente le risque de faux positifs (individus normaux classifiés comme anormaux).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4224448"/>
            <a:ext cx="4206240" cy="708660"/>
          </a:xfrm>
          <a:prstGeom prst="rect">
            <a:avLst/>
          </a:prstGeom>
          <a:solidFill>
            <a:srgbClr val="152232"/>
          </a:solidFill>
          <a:ln w="12700">
            <a:solidFill>
              <a:srgbClr val="17C3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663440" y="4224448"/>
            <a:ext cx="64008" cy="70866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828032" y="42613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clé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28032" y="4562048"/>
            <a:ext cx="3977640" cy="282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du seuil est crucial : il dépend du contexte médical et du coût associé à chaque type d'erreur.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Synthèse : individus détectés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des anomalies détectées selon la méthode et le seuil (α = 0.95)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811700" y="923237"/>
            <a:ext cx="3017520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notables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11700" y="1336606"/>
            <a:ext cx="3017520" cy="680132"/>
          </a:xfrm>
          <a:prstGeom prst="rect">
            <a:avLst/>
          </a:prstGeom>
          <a:solidFill>
            <a:srgbClr val="152232"/>
          </a:solidFill>
          <a:ln w="12700">
            <a:solidFill>
              <a:srgbClr val="FFBA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811700" y="1336606"/>
            <a:ext cx="64008" cy="680132"/>
          </a:xfrm>
          <a:prstGeom prst="rect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948860" y="1334717"/>
            <a:ext cx="822960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11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8860" y="1648371"/>
            <a:ext cx="2788920" cy="3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Ferritine anormale (M1).    4.16 &gt; 4.11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 également en M3 (</a:t>
            </a:r>
            <a:r>
              <a:rPr lang="en-US" sz="95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   15.87 &gt; 8.25 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11700" y="2296726"/>
            <a:ext cx="3017520" cy="680132"/>
          </a:xfrm>
          <a:prstGeom prst="rect">
            <a:avLst/>
          </a:prstGeom>
          <a:solidFill>
            <a:srgbClr val="152232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811700" y="2296726"/>
            <a:ext cx="64008" cy="6801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948860" y="2294837"/>
            <a:ext cx="822960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21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8860" y="2608491"/>
            <a:ext cx="2788920" cy="3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sérique anormal (M2) α=0.80.    3.20 &gt; 2.89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 en M3 avec α=0.80.   7.15 &gt; 6.17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11700" y="3256846"/>
            <a:ext cx="3017520" cy="680132"/>
          </a:xfrm>
          <a:prstGeom prst="rect">
            <a:avLst/>
          </a:prstGeom>
          <a:solidFill>
            <a:srgbClr val="152232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5811700" y="3256846"/>
            <a:ext cx="64008" cy="6801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948860" y="3254957"/>
            <a:ext cx="822960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24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8860" y="3568611"/>
            <a:ext cx="2788920" cy="3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Également</a:t>
            </a: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détecté M1 Fer (α=0.80).     3.73 &gt; 2.97</a:t>
            </a:r>
          </a:p>
          <a:p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 </a:t>
            </a:r>
            <a:r>
              <a:rPr lang="en-US" sz="95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M3(α=0.95).      18.78 &gt; 16.46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11700" y="4216966"/>
            <a:ext cx="3017520" cy="680132"/>
          </a:xfrm>
          <a:prstGeom prst="rect">
            <a:avLst/>
          </a:prstGeom>
          <a:solidFill>
            <a:srgbClr val="152232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5811700" y="4216966"/>
            <a:ext cx="64008" cy="6801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948860" y="4215077"/>
            <a:ext cx="822960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28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8860" y="4528731"/>
            <a:ext cx="2788920" cy="3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le plus flagrant : Tn=55.80 &gt; 16.46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 uniquement en M3</a:t>
            </a:r>
            <a:endParaRPr lang="en-US" sz="950" dirty="0"/>
          </a:p>
        </p:txBody>
      </p:sp>
      <p:graphicFrame>
        <p:nvGraphicFramePr>
          <p:cNvPr id="26" name="Chart 0">
            <a:extLst>
              <a:ext uri="{FF2B5EF4-FFF2-40B4-BE49-F238E27FC236}">
                <a16:creationId xmlns:a16="http://schemas.microsoft.com/office/drawing/2014/main" id="{54A2A291-EB2F-E396-752A-BFEA4DAB05FB}"/>
              </a:ext>
            </a:extLst>
          </p:cNvPr>
          <p:cNvGraphicFramePr/>
          <p:nvPr/>
        </p:nvGraphicFramePr>
        <p:xfrm>
          <a:off x="274320" y="141732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17C3B2">
              <a:alpha val="15000"/>
            </a:srgbClr>
          </a:solidFill>
          <a:ln w="12700">
            <a:solidFill>
              <a:srgbClr val="17C3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2004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Z-score efficace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statistique Tn leave-one-out permet d'identifier des valeurs extrêmes individuelles sans hypothèse forte sur la distribution.</a:t>
            </a:r>
          </a:p>
          <a:p>
            <a:pPr marL="0" indent="0">
              <a:buNone/>
            </a:pPr>
            <a:endParaRPr lang="en-US" sz="1050" dirty="0">
              <a:solidFill>
                <a:srgbClr val="F0F4F8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17C3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temporalité apporte peu ici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572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saisonnière (M2) ne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un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strict (α=0.95) sur ce jeu de données. La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n’est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un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pertinent.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FFBA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411480"/>
          </a:xfrm>
          <a:prstGeom prst="rect">
            <a:avLst/>
          </a:prstGeom>
          <a:solidFill>
            <a:srgbClr val="FFBA49"/>
          </a:solidFill>
          <a:ln w="12700">
            <a:solidFill>
              <a:srgbClr val="FFBA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L'approche multivariée est puissante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4015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capture des anomalies invisibles en univarié en exploitant la corrélation entre les deux biomarqueurs (individu 28 : Tn=55.8 !).</a:t>
            </a:r>
          </a:p>
          <a:p>
            <a:pPr marL="0" indent="0">
              <a:buNone/>
            </a:pPr>
            <a:endParaRPr lang="en-US" sz="1050" dirty="0">
              <a:solidFill>
                <a:srgbClr val="F0F4F8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cs typeface="Calibri" pitchFamily="34" charset="-120"/>
              </a:rPr>
              <a:t>Cas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cs typeface="Calibri" pitchFamily="34" charset="-120"/>
              </a:rPr>
              <a:t>limites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cs typeface="Calibri" pitchFamily="34" charset="-120"/>
              </a:rPr>
              <a:t> (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cs typeface="Calibri" pitchFamily="34" charset="-120"/>
              </a:rPr>
              <a:t>valeur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cs typeface="Calibri" pitchFamily="34" charset="-120"/>
              </a:rPr>
              <a:t>proche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cs typeface="Calibri" pitchFamily="34" charset="-120"/>
              </a:rPr>
              <a:t> du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cs typeface="Calibri" pitchFamily="34" charset="-120"/>
              </a:rPr>
              <a:t>seuil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cs typeface="Calibri" pitchFamily="34" charset="-120"/>
              </a:rPr>
              <a:t>) : </a:t>
            </a:r>
          </a:p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11 (M3) : Tn=15.87 vs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=16.47 (très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25 (M3) : Tn=17.99 vs </a:t>
            </a:r>
            <a:r>
              <a:rPr lang="en-US" sz="105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=21.54</a:t>
            </a:r>
            <a:endParaRPr lang="en-US" sz="1050" dirty="0"/>
          </a:p>
          <a:p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114800" cy="1554480"/>
          </a:xfrm>
          <a:prstGeom prst="rect">
            <a:avLst/>
          </a:prstGeom>
          <a:solidFill>
            <a:srgbClr val="152232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11480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0060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du seuil est décisif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4015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α=0.95 à α=0.80 multiplie les détections mais augmente le taux de faux positifs. Ce choix est médical avant tout.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4908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2262</TotalTime>
  <Words>1563</Words>
  <Application>Microsoft Macintosh PowerPoint</Application>
  <PresentationFormat>Affichage à l'écran (16:9)</PresentationFormat>
  <Paragraphs>296</Paragraphs>
  <Slides>14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de profils biologiques atypiques par Z-scores</dc:title>
  <dc:subject>PptxGenJS Presentation</dc:subject>
  <dc:creator>PptxGenJS</dc:creator>
  <cp:lastModifiedBy>Arthur RENAULT CLEQUIN</cp:lastModifiedBy>
  <cp:revision>36</cp:revision>
  <dcterms:created xsi:type="dcterms:W3CDTF">2026-03-27T19:03:40Z</dcterms:created>
  <dcterms:modified xsi:type="dcterms:W3CDTF">2026-04-28T10:36:08Z</dcterms:modified>
</cp:coreProperties>
</file>